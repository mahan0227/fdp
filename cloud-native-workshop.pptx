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Cloud native adopted</c:v>
                </c:pt>
                <c:pt idx="1">
                  <c:v>K8s in production ('25)</c:v>
                </c:pt>
                <c:pt idx="2">
                  <c:v>K8s in production ('23)</c:v>
                </c:pt>
                <c:pt idx="3">
                  <c:v>GitOps practiced</c:v>
                </c:pt>
                <c:pt idx="4">
                  <c:v>CI/CD platform</c:v>
                </c:pt>
                <c:pt idx="5">
                  <c:v>Containers run most apps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82</c:v>
                </c:pt>
                <c:pt idx="2">
                  <c:v>66</c:v>
                </c:pt>
                <c:pt idx="3">
                  <c:v>77</c:v>
                </c:pt>
                <c:pt idx="4">
                  <c:v>60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E-2D40-BE49-19E50C69F9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06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Today's goal: by the end of this half-day, you'll understand what cloud native means, why 98% of organizations have adopted it, and you'll have deployed real containers and Kubernetes workloads yourself in free browser-based labs — plus you'll leave with materials you can reuse in your own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parts. Emphasize the labs are in free, browser-based environments — no installs, no credit cards — the same platforms they can use with their own students. Two short breaks: after Part 1 and after the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stats to say out loud: 98% adoption means cloud native is no longer optional knowledge. 82% of container users run Kubernetes in production — up from 66% in 2023. And the striking one for us as educators: 47% cite CULTURE, not technology, as the top challenge. That's a teaching and people problem — exactly our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definition, then simplify: cloud native = designing software that ASSUMES the cloud, instead of software merely moved to the cloud. The 4 C's are a handy mnemonic for students: Cloud, Containers, Clusters, Code. ASK the room: who currently teaches anything touching one of these four?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lecture framing for students: each hop up the timeline is an abstraction layer. Use the pets vs cattle analogy — it lands well. Pause on 2013/2015: Docker made packaging universal, Kubernetes made operating fleets universal. Today's era adds GitOps, platform engineering, and AI workloads on the same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pillars structure the rest of the workshop. Note the deliberate order: microservices is the ARCHITECTURE, containers the PACKAGING, CI/CD the DELIVERY, DevOps the PEOPLE. Most curricula teach the first three and skip the fourth — yet industry says the fourth is the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contrasts a single deployable with one DB versus services each owning their data. Stress the trade-off line at the bottom — microservices are NOT free. Good teaching exercise: give students a monolith description and ask them to draw service boundaries; there is no single right answer, and that discussion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shipping container analogy is the single best teaching device here — standardization decoupled cargo from transport, and Docker did the same for software. Correct the #1 misconception early: a container is NOT a lightweight VM, it's an isolated process. That distinction explains the entire right-hand table. This is exactly what Lab 1 makes tangible.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GIF spotlights one component at a time — narrate along with it: kubectl sends desired state to the API server, etcd stores it, scheduler picks nodes, kubelets make it real. The reconciliation loop is the deep idea worth a whole lecture: Kubernetes is a control theory system, comparable to a thermostat. DEMO cue: this animates in slideshow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poster included in your workshop kit as a printable handout. Walk top to bottom: traffic enters through LB and ingress; the Kubernetes platform runs microservices with a mesh, autoscaling, and declarative config; stateful backing services sit alongside; and the bottom layer — CI/CD, observability, security, IaC — is what makes it operable. Every lab today touches at least two of these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the animated pipeline stage by stage: commit, build, test+scan, registry, staging via GitOps, health gate, then either production (canary) or automatic rollback, with observability closing the loop. The gate is the teachable moment — failure is an EXPECTED, handled path, not an exception. Popular stacks: GitHub Actions (51%), Argo (45%), Jenkins (44%).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 across the sequence diagram, left panel. Then land the observability point — a great classroom exercise is asking students how they would find a slow query when the request crosses five services. Answer: distributed tracing. Mention OpenTelemetry's rise and that ~20% of teams now also use continuous profiling.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answers 'what is happening'; alerting decides 'who needs to act'. Walk the golden signals (from Google's SRE book) — they are what you page on. Then the pipeline: Prometheus pulls /metrics, rules evaluate continuously, Alertmanager dedupes and routes, Grafana is the human view. The philosophy line matters most: alert on SYMPTOMS (users hurting) not CAUSES (a pod restarted) — Kubernetes handles causes automatically, as Lab 2B demonstrates with probes, events, and kubectl top. Mention: this is the Observability layer of the reference architecture poster.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GitOps resonates with academics instantly: it is version control applied to operations — reproducibility as a first-class value, like a lab notebook. Then pivot to culture: the industry's biggest bottleneck is now human, which is a strong argument for teaching teamwork, code review, and incident practice in courses, not just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visuals: the bar chart shows adoption breadth; the staircase shows depth — foundational APIs and containers, then production Kubernetes with CI/CD and observability, then GitOps, platform engineering, and AI workloads. The K8s jump from 66% to 82% in two years is the headline. Frame for curriculum: aim to graduate students at stage 2 awareness with stage 1 hands-on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application threads through all three labs: built in Lab 1, hosted and load-balanced in Lab 2 (the served_by field makes LB visible), updated end-to-end by the pipeline in Lab 3 (the version field makes rollouts visible). Logistics: pair people up — driver/navigator works well. Play with Docker and Killercoda need only a free account; sessions are time-boxed (4 hours / per-scenario) which is plenty. GitHub Actions needs a GitHub account. Circulate during labs; the lab guide has expected output after every command plus a troubleshooting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faculty payoff slide — spend time here. ASK: which existing course of yours could absorb one cloud native lab without restructuring? The 'assessment via pipeline' idea usually sparks discussion: students submit repos and the CI pipeline IS the rubric — automated, objective, and identical to industry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misconceptions appear in nearly every classroom. The monolith-first advice surprises people after a workshop selling microservices — being honest about trade-offs builds credibility with students. Cite the pattern: many successful companies extracted microservices FROM a monolith once boundaries were understood, rather than starting distributed.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quick self-audit for anyone already using these tools. Each 'avoid' item maps to a real failure mode covered earlier: drift breaks GitOps, aged images accumulate CVEs, missing contract tests cause the works-in-CI-fails-in-cluster pattern. These two lists make a good exam question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slowly — one breath per point. Point 4 gets the orange dot on purpose: the human factor is the differentiator. End by connecting back to their role: as faculty, they shape the culture layer the industry says it's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concrete next step: pick ONE — run Lab 1 with a class this term, or take the KCNA syllabus and map it to an existing course. Remind them the whole kit is theirs to reuse and adapt. Open the floor for Q&amp;A (15 min budgeted).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2747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747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Native Workshop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Monoliths to Microservices: Building and Running Modern Applications</a:t>
            </a:r>
            <a:endParaRPr lang="en-US" sz="18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64C0C8F-B3CE-C4B1-BC5A-6AA39E791F7B}"/>
              </a:ext>
            </a:extLst>
          </p:cNvPr>
          <p:cNvSpPr/>
          <p:nvPr/>
        </p:nvSpPr>
        <p:spPr>
          <a:xfrm>
            <a:off x="1097280" y="3383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219D1-E396-9F46-F246-CABDB4008450}"/>
              </a:ext>
            </a:extLst>
          </p:cNvPr>
          <p:cNvSpPr txBox="1"/>
          <p:nvPr/>
        </p:nvSpPr>
        <p:spPr>
          <a:xfrm>
            <a:off x="4251960" y="3698855"/>
            <a:ext cx="39376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</a:t>
            </a:r>
          </a:p>
          <a:p>
            <a:r>
              <a:rPr lang="en-US" dirty="0">
                <a:solidFill>
                  <a:schemeClr val="bg1"/>
                </a:solidFill>
              </a:rPr>
              <a:t>Mahantesh Ambaljeri, </a:t>
            </a:r>
          </a:p>
          <a:p>
            <a:r>
              <a:rPr lang="en-US" dirty="0">
                <a:solidFill>
                  <a:schemeClr val="bg1"/>
                </a:solidFill>
              </a:rPr>
              <a:t>Distinguished Member of Technical Staff</a:t>
            </a:r>
          </a:p>
          <a:p>
            <a:r>
              <a:rPr lang="en-US" dirty="0">
                <a:solidFill>
                  <a:schemeClr val="bg1"/>
                </a:solidFill>
              </a:rPr>
              <a:t>Dell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→ Architecture → Hands-On Labs → Teaching Toolkit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" y="17476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27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874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native is, why it won, and the four pillars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66160" y="2532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397764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160020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161" y="17476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527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Architecture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69280" y="1874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Kubernetes, CI/CD, GitOps — and monitoring &amp; alerting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818120" y="2532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7764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85800" y="338328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01" y="35306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310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Hands-On Labs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 containers &amp; K8s apps in free browser labs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56616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3108960"/>
            <a:ext cx="397764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937760" y="3383280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161" y="353068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3310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Teaching Toolkit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66928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cloud native into your curriculum + Q&amp;A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81812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Computing Foundation (CNCF) Annual Survey 2025 &amp; State of Cloud Native Development</a:t>
            </a:r>
            <a:endParaRPr lang="en-US" sz="1300" dirty="0"/>
          </a:p>
        </p:txBody>
      </p:sp>
      <p:pic>
        <p:nvPicPr>
          <p:cNvPr id="4" name="Image 0" descr="posters/stat-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2093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233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38404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educators: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has moved from an elective niche to the default way software ships. Graduates who can reason about containers, Kubernetes, and CI/CD enter a market of 15.6M practitioners — and the #1 industry blocker is people, not technology.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“Cloud Native” Actually Mean?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937760" cy="13716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definition (paraphrased):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running scalable applications in dynamic environments — public, private, and hybrid clouds — using containers, microservices, declarative APIs, and automation.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965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services, independent teams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6511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observable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3794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expected, visible, survivable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433699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low-risk change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4480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many times per week, safely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23560" y="123444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8521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C's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852160" y="182880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19476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400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elastic, on-demand infrastructure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852160" y="2587752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032" y="270662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00800" y="2816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packaging of apps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852160" y="3346704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032" y="346557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0080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400800" y="357530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pools of machines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852160" y="410565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1032" y="4224528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400800" y="43342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declared &amp; versioned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Got Here: Two Decades of Abstraction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era traded control for speed and scale</a:t>
            </a:r>
            <a:endParaRPr lang="en-US" sz="1300" dirty="0"/>
          </a:p>
        </p:txBody>
      </p:sp>
      <p:pic>
        <p:nvPicPr>
          <p:cNvPr id="4" name="Image 0" descr="diagrams/evolution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8229600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20040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era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3639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per server. Weeks to provision. “Pets” — named, nursed, irreplaceable.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320040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IaaS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3639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&amp; cloud made machines rentable by the hour. Infrastructure became an API call.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&amp; orchestration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09360" y="36393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(2013) standardized packaging; Kubernetes (2015) standardized running at scale. “Cattle, not pets.”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Cloud Native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594360" cy="59436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1690726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8288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apps into small, independently deployable services aligned to business capabilities. Compose via APIs.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536192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294" y="169072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481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15000" y="18288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each service with its dependencies into a portable, immutable unit that runs identically everywhere.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85800" y="3319272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4" y="3473806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36118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built, tested, and deployed by a pipeline. 60% of orgs now deploy via a CI/CD platform.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937760" y="3319272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294" y="3473806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Culture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715000" y="36118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and operations share ownership. Culture is now the #1 adoption challenge (47%).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1 · From Monolith to Microservices</a:t>
            </a:r>
            <a:endParaRPr lang="en-US" sz="3000" dirty="0"/>
          </a:p>
        </p:txBody>
      </p:sp>
      <p:pic>
        <p:nvPicPr>
          <p:cNvPr id="3" name="Image 0" descr="diagrams/monolith-vs-micro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2487168" cy="38313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44168"/>
            <a:ext cx="292608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325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68680" y="1627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cart service without touching payments — no release trains.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58568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68680" y="2542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the hot service. Orgs now run 2,341 containers on average.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72968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3154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68680" y="34564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failing service degrades gracefully instead of taking the whole app down.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8736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68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autonomy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868680" y="43708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own a service end-to-end — Conway's Law used deliberately.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57200" y="4892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you inherit distributed-systems complexity — network calls, eventual consistency, observability needs.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2 · Containers: The Shipping Revolution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container 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process, not a mini-VM — shares the host kernel, starts in milliseconds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layered, immutable image: code + runtime + libraries + config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“Works on my machine” becomes “works on every machine”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standardized shipping containers: any cargo, any ship, any 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977640" cy="3566160"/>
          </a:xfrm>
          <a:prstGeom prst="roundRect">
            <a:avLst>
              <a:gd name="adj" fmla="val 2308"/>
            </a:avLst>
          </a:prstGeom>
          <a:solidFill>
            <a:srgbClr val="1E3A5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vs VM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74520"/>
          <a:ext cx="3520440" cy="2743200"/>
        </p:xfrm>
        <a:graphic>
          <a:graphicData uri="http://schemas.openxmlformats.org/drawingml/2006/table">
            <a:tbl>
              <a:tblPr/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~10s /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~100s /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OS 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3F2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kernel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2½ · Kubernetes: The Cluster Operating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372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walkthrough — plays in slideshow mode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705600" y="1298448"/>
            <a:ext cx="228600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4276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842760" y="160934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desired state in YAML; controllers reconcile reality toward it, forever.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705600" y="2258568"/>
            <a:ext cx="2286000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42760" y="2331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42760" y="256946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dies? Rescheduled. Node dies? Workloads move. No 3 a.m. pages for restarts.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705600" y="3218688"/>
            <a:ext cx="2286000" cy="841248"/>
          </a:xfrm>
          <a:prstGeom prst="roundRect">
            <a:avLst>
              <a:gd name="adj" fmla="val 7609"/>
            </a:avLst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42760" y="3291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in production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42760" y="35295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 facto standard — now also the platform for AI inference workloads (66%).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= the brain (API server, scheduler, etcd)  ·  Worker nodes = the muscle (kubelet runs your pods)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labs you will run kubectl against a real cluster and watch this reconciliation loop happen live.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679DF5-94D0-26D8-131C-3881342F4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78" y="1288835"/>
            <a:ext cx="5519615" cy="2583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Reference Architecture</a:t>
            </a:r>
            <a:endParaRPr lang="en-US" sz="3000" dirty="0"/>
          </a:p>
        </p:txBody>
      </p:sp>
      <p:pic>
        <p:nvPicPr>
          <p:cNvPr id="3" name="Image 0" descr="posters/referenc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6309360" cy="39410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3 · The CI/CD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walkthrough — every commit takes this journey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26060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91967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promote everywhere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008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immutable image moves through all environments — no environment-specific rebuilds.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91840" y="26060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74720" y="27889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79" y="291967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quality &amp; security left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47472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vulnerability scans run on every commit, not the night before release.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26480" y="26060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309360" y="2788920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119" y="291967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30936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and blue-green releases expose changes to a slice of traffic first; rollback is automatic.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29% of organizations deploy multiple times a day; 38% automate 80–100% of releases.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D6E0D8-463F-53E4-7C87-7695033957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157569"/>
            <a:ext cx="7292535" cy="13341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Request in Production</a:t>
            </a:r>
            <a:endParaRPr lang="en-US" sz="3000" dirty="0"/>
          </a:p>
        </p:txBody>
      </p:sp>
      <p:pic>
        <p:nvPicPr>
          <p:cNvPr id="3" name="Image 0" descr="diagrams/request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0" cy="2423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234440"/>
            <a:ext cx="2286000" cy="2331720"/>
          </a:xfrm>
          <a:prstGeom prst="roundRect">
            <a:avLst>
              <a:gd name="adj" fmla="val 3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0" y="1691640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that answers is chosen at request time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pod can die mid-flight — retries hide it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emits metrics &amp; traces automatically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37947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395020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not optional: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dozens of services, you cannot debug by reading one log file. Metrics (Prometheus), logs, and traces (OpenTelemetry — now the 2nd-highest-velocity CNCF project) are the flight recorder of a distributed system.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Alerting: From Signals to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operate what you can't see — and you can't scale what wakes humans needlessly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Golden Signals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00584" cy="658368"/>
          </a:xfrm>
          <a:prstGeom prst="round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929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requests take (p50/p95/p99)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00584" cy="658368"/>
          </a:xfrm>
          <a:prstGeom prst="round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441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requests per second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00584" cy="658368"/>
          </a:xfrm>
          <a:prstGeom prst="round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failed requests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00584" cy="658368"/>
          </a:xfrm>
          <a:prstGeom prst="round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3995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full: CPU, memory, queue depth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Alerting Pipeline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600200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73752" y="1700784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819656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68112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68112" y="19293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 from every pod &amp; node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21671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09160" y="2377440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73752" y="2478024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596896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68112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68112" y="2706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over metrics: “error rate &gt; 2% for 5m”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709160" y="2944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709160" y="3154680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873752" y="325526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374136"/>
            <a:ext cx="219456" cy="21945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468112" y="3218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5468112" y="34838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dedupes, groups, routes → Slack / PagerDuty / email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709160" y="3721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4709160" y="3931920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4873752" y="403250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4151376"/>
            <a:ext cx="219456" cy="21945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468112" y="3995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5468112" y="42611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humans; alerts for machines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57200" y="470916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685800" y="47731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symptoms, not causes —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 human for user-visible pain (golden signals); let Kubernetes auto-heal the rest. In Lab 2B you'll watch kubectl top, events, and a liveness probe do exactly that.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4 · GitOps and the Culture Shift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520440"/>
          </a:xfrm>
          <a:prstGeom prst="roundRect">
            <a:avLst>
              <a:gd name="adj" fmla="val 2338"/>
            </a:avLst>
          </a:prstGeom>
          <a:solidFill>
            <a:srgbClr val="1E3A5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in one sentence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single source of truth for BOTH application code and infrastructure; an agent (e.g. Argo CD) continuously syncs the cluster to match the repo.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pull request — reviewed, versioned, auditable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git revert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detected and corrected automatically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organizations now practice GitOps to some degree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23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side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cultural change as the #1 adoption challenge — ahead of training (36%), security (36%), and complexity (34%)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30632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ownership: “you build it, you run it”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postmortems over finger-pointing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pave golden paths for developers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Maturity Curve — Where Organizations 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366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Annual Survey 2025, n=628 practitioners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diagrams/adoption-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234440"/>
            <a:ext cx="2103120" cy="35844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9788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journey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Labs · Free, Browser-Based, No Installs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9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minutes · full step-by-step lab guide in your kit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17476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Build &amp; Ship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Docker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0906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hello-cncf microservice, containerize it, and push the image to Docker Hub.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0280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0" y="160020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121" y="174760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Run It on Kubernetes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Killercoda (2-node)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74720" y="30906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SAME image: see load balancing via served_by, self-healing, probes, scaling.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74920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09360" y="160020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761" y="174760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Automate End to End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09360" y="30906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v2.0 → pipeline tests, builds, pushes → rolling update in YOUR cluster → rollback.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909560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platforms are free for your students too — no credit card, no cloud account, no local installs.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Cloud Native Into Your Curriculum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" y="1665305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898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63040" y="1682496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(CI/CD, testing) · OS courses (namespaces, cgroups) · Networks (service discovery, load balancing) · Distributed systems (consensus, etcd) · Capstones (deploy for real)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487168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2724912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" y="287231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96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student resources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463040" y="2889504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landscape &amp; KubeCon talks · Killercoda scenarios as graded labs · Play with Docker/K8s · GitHub Education pack · Official K8s tutorials &amp; sandbox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694176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85800" y="3931920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01" y="407932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8039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that works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463040" y="409651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things on purpose (kill pods live) · Analogies first (shipping containers, thermostats) · Assess via pipelines — students submit a repo whose CI must pass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kit includes: this deck, lab guide, quiz, feedback form, printable posters, and a certificate template — all reusable in class.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Misconceptions to Correct Early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44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“Cloud native = running in the cloud”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02996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99339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architectural approach. A lifted-and-shifted VM in AWS is not cloud native; a well-built K8s app on-prem is.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09160" y="12801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4630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03520" y="14447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“Containers are lightweight VMs”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02996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03520" y="199339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isolated processes sharing the host kernel — that's why they start in milliseconds.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4612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2278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“Microservices are always better”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813048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77647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trade code complexity for distributed-systems complexity. Start monolith-first; split when team scale demands it.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246120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03520" y="32278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“Kubernetes replaces ops people”</a:t>
            </a:r>
            <a:endParaRPr lang="en-US" sz="12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813048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03520" y="377647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shifts ops work up the stack — platform engineering is one of the fastest-growing roles.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Field-Tested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immutable image; promote it through every environment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everything as code — apps, infra, config, policy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tests and security scans on every commit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failure: health checks, retries, graceful degradation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observability from day one, not after the first outage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3977640" cy="3566160"/>
          </a:xfrm>
          <a:prstGeom prst="roundRect">
            <a:avLst>
              <a:gd name="adj" fmla="val 2308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18745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into microservices before you understand the domain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Hand-editing anything in production (“click-ops” drift)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Kubernetes as a traditional server you SSH into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API/contract tests between services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base images age — patch and rebuild continuously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645920"/>
            <a:ext cx="3840480" cy="3840480"/>
          </a:xfrm>
          <a:prstGeom prst="ellipse">
            <a:avLst/>
          </a:prstGeom>
          <a:solidFill>
            <a:srgbClr val="2747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to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is an approach, not a location — containers, microservices, automation, and declarative APIs.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20824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99339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is the cluster operating system: declare desired state; controllers reconcile reality — 82% run it in production.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779776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75234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GitOps make change boring: one immutable image, Git as source of truth, rollback as git revert.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51129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is people — 47% cite culture as the top challenge. Teach collaboration, not just tools.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2702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used today is free for your students — Play with Docker, Killercoda, GitHub Actions.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Going: Resources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1499616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" y="1630375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08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25880" y="170078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kubernetes.io/docs/tutorials · CNCF Landscape (landscape.cncf.io) · CNCF Annual Survey 2025 · 'The Twelve-Factor App'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10328" y="149961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087" y="1630375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408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577840" y="170078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killercoda.com · labs.play-with-docker.com · labs.play-with-k8s.com · GitHub Codespaces (60 free hrs/mo)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2816352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58368" y="3035808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" y="316656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25880" y="323697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KCNA (Kubernetes &amp; Cloud Native Associate) — entry-level cert well suited to students · CKA for the ambitious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709160" y="2816352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910328" y="303580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1087" y="316656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577840" y="323697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meetups &amp; KubeCon (student discounts) · #kubernetes-users Slack · Your workshop kit: quiz, posters, certificate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44348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57200" y="4434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 · Please fill in the feedback form in your workshop kit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3313</Words>
  <Application>Microsoft Macintosh PowerPoint</Application>
  <PresentationFormat>On-screen Show (16:9)</PresentationFormat>
  <Paragraphs>266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Native Workshop</dc:title>
  <dc:subject>PptxGenJS Presentation</dc:subject>
  <dc:creator>Faculty Development Program</dc:creator>
  <cp:lastModifiedBy>Mahantesh Ambaljeri [(Ph.D) Artificial Intelligence &amp; Machine Learning  - 2024]</cp:lastModifiedBy>
  <cp:revision>5</cp:revision>
  <dcterms:created xsi:type="dcterms:W3CDTF">2026-07-11T14:47:23Z</dcterms:created>
  <dcterms:modified xsi:type="dcterms:W3CDTF">2026-07-21T05:01:40Z</dcterms:modified>
</cp:coreProperties>
</file>